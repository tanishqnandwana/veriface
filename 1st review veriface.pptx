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2" r:id="rId6"/>
    <p:sldId id="267" r:id="rId7"/>
    <p:sldId id="268" r:id="rId8"/>
    <p:sldId id="270" r:id="rId9"/>
    <p:sldId id="269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7CD8C2-ED11-4C5D-BFB1-2B23E3BBFC8B}" type="datetimeFigureOut">
              <a:rPr lang="en-IN" smtClean="0"/>
              <a:pPr/>
              <a:t>07-08-2026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37F36-709B-4BED-A067-C7DB16BA189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099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0EA-0349-4705-BCA1-FD6E25D488B5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C1D501-53D3-41AA-AB0F-EC7FAC1EB820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71C75-95A0-4782-AD5B-2C635E75B37E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4B71-1D04-45C1-8B01-49A10CA9C075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A0925-4DFA-4031-AC1C-EE687C8A35B9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F9D56-42E6-4D5F-BCD7-8DF45E18B82B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53461-3314-417A-9E69-8C7D69C055C2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7D5A3-45C0-4945-9331-D861858FAA3A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13C51-0C46-4694-B1CA-F494AEDC7584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04A80-5AB2-42BC-8BEE-7DD0D76C722C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A9B33-76AE-4D19-9682-D146607365AE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79806-2787-4536-BE2E-76D988C62929}" type="datetime1">
              <a:rPr lang="en-US" smtClean="0"/>
              <a:pPr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1998" y="2077403"/>
            <a:ext cx="7696200" cy="1295400"/>
          </a:xfrm>
        </p:spPr>
        <p:txBody>
          <a:bodyPr>
            <a:noAutofit/>
          </a:bodyPr>
          <a:lstStyle/>
          <a:p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Presentation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on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VeriFace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Verify the Media. Reveal the Truth.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”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By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Tanishq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Nandwana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err="1">
                <a:latin typeface="Times New Roman" pitchFamily="18" charset="0"/>
                <a:cs typeface="Times New Roman" pitchFamily="18" charset="0"/>
              </a:rPr>
              <a:t>Divyanshu</a:t>
            </a: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Kumbe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Yanshu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Baria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Under the Guidance of</a:t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Dr.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Varsha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000" b="1" dirty="0" err="1" smtClean="0">
                <a:latin typeface="Times New Roman" pitchFamily="18" charset="0"/>
                <a:cs typeface="Times New Roman" pitchFamily="18" charset="0"/>
              </a:rPr>
              <a:t>Nemade</a:t>
            </a:r>
            <a:r>
              <a:rPr lang="en-IN" sz="2000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IN" sz="2000" b="1" dirty="0" smtClean="0">
                <a:latin typeface="Times New Roman" pitchFamily="18" charset="0"/>
                <a:cs typeface="Times New Roman" pitchFamily="18" charset="0"/>
              </a:rPr>
            </a:br>
            <a:endParaRPr lang="en-IN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pic>
        <p:nvPicPr>
          <p:cNvPr id="1027" name="Picture 3" descr="C:\Users\kunal\Pictures\nmims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81460" y="3505200"/>
            <a:ext cx="1057275" cy="1209675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524000" y="5380672"/>
            <a:ext cx="6248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b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Department of Computer Science</a:t>
            </a:r>
          </a:p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MPSTME, Shirpur Campus</a:t>
            </a:r>
          </a:p>
          <a:p>
            <a:pPr algn="ctr"/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2026-27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 smtClean="0">
                <a:latin typeface="Times New Roman" pitchFamily="18" charset="0"/>
                <a:cs typeface="Times New Roman" pitchFamily="18" charset="0"/>
              </a:rPr>
              <a:t>Outline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990600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Objective of Project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Literature Survey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Problem Statement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Proposed Solution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Software and Hardware Requirements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Project Development Timeline (Gantt Chart)</a:t>
            </a:r>
          </a:p>
          <a:p>
            <a:pPr marL="358775" lvl="1" indent="-358775">
              <a:lnSpc>
                <a:spcPct val="150000"/>
              </a:lnSpc>
              <a:buFont typeface="Arial" pitchFamily="34" charset="0"/>
              <a:buChar char="•"/>
            </a:pP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References</a:t>
            </a:r>
          </a:p>
          <a:p>
            <a:pPr lvl="1"/>
            <a:endParaRPr lang="en-IN" sz="1600" dirty="0" smtClean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IN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itchFamily="18" charset="0"/>
              </a:rPr>
              <a:t>Objective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28956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AI platform to detect manipulated images,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videos, and synthetic or cloned audio with explainable results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detect manipulated image, video and audio content through one unified AI platform.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robust spatial, frequency, temporal, style-latent and audio features that generalize to unseen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generators.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suspicious regions, frames or audio segments and provide explainable confidence-based results.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analysis records, generate forensic reports and evaluate cross-dataset / cross-manipulation performance.</a:t>
            </a:r>
          </a:p>
        </p:txBody>
      </p:sp>
    </p:spTree>
    <p:extLst>
      <p:ext uri="{BB962C8B-B14F-4D97-AF65-F5344CB8AC3E}">
        <p14:creationId xmlns:p14="http://schemas.microsoft.com/office/powerpoint/2010/main" val="223143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Literature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4" name="Content Placeholder 1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7400212"/>
              </p:ext>
            </p:extLst>
          </p:nvPr>
        </p:nvGraphicFramePr>
        <p:xfrm>
          <a:off x="457200" y="1143000"/>
          <a:ext cx="8229600" cy="502919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464653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 Paper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Core Technique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Reported Result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Adoption in VeriFace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 Gap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VeriFace Overcomes It</a:t>
                      </a:r>
                    </a:p>
                  </a:txBody>
                  <a:tcPr marL="37405" marR="37405" marT="18702" marB="18702" anchor="ctr"/>
                </a:tc>
              </a:tr>
              <a:tr h="1242004">
                <a:tc>
                  <a:txBody>
                    <a:bodyPr/>
                    <a:lstStyle/>
                    <a:p>
                      <a:pPr algn="l"/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Luo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(2025) – FA-</a:t>
                      </a:r>
                      <a:r>
                        <a:rPr lang="fr-FR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fr-FR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(Image)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 + GAM + LAM + FAL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93.83% AUC on Celeb-DF, 78.32% on DFDC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forgery detection branch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detectors often overfit dataset-specific artifacts and struggle with unseen forgery methods.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frozen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ViT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global/local adapters + FFT features to learn more general forgery traces.</a:t>
                      </a:r>
                    </a:p>
                  </a:txBody>
                  <a:tcPr marL="37405" marR="37405" marT="18702" marB="18702" anchor="ctr"/>
                </a:tc>
              </a:tr>
              <a:tr h="1451884"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Choi et al. (CVPR 2024) – Style Latent Flows (Video)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pSp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StyleGRU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+ 3D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Style Attention + Transformer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95.8% average cross-dataset AUC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temporal-analysis branch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video detectors rely heavily on low-level temporal artifacts, which advanced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deepfakes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can suppress.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Analyzes style-latent changes between frames along with visual-temporal features for stronger detection.</a:t>
                      </a:r>
                    </a:p>
                  </a:txBody>
                  <a:tcPr marL="37405" marR="37405" marT="18702" marB="18702" anchor="ctr"/>
                </a:tc>
              </a:tr>
              <a:tr h="1870658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Wu et al. (2024) – CLAD (Audio)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AASIST + </a:t>
                      </a:r>
                      <a:r>
                        <a:rPr lang="en-US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MoCo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Contrastive Learning + Length Loss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 ≤ 1.63% under tested manipulations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deepfake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detection branch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Audio </a:t>
                      </a:r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detectors are vulnerable to noise, fading, volume changes, resampling, and other manipulations.</a:t>
                      </a:r>
                    </a:p>
                  </a:txBody>
                  <a:tcPr marL="37405" marR="37405" marT="18702" marB="18702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 contrastive learning, manipulation augmentation, and length loss to learn manipulation-robust audio features.</a:t>
                      </a:r>
                    </a:p>
                  </a:txBody>
                  <a:tcPr marL="37405" marR="37405" marT="18702" marB="18702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8145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4400" b="1" dirty="0" smtClean="0">
                <a:latin typeface="Times New Roman" panose="02020603050405020304" pitchFamily="18" charset="0"/>
                <a:cs typeface="Times New Roman" pitchFamily="18" charset="0"/>
              </a:rPr>
              <a:t>Problem Statement</a:t>
            </a:r>
            <a:endParaRPr lang="en-IN" sz="4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2596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detectors often support only one media type, provide limited explanations, and perform poorly on unseen or compressed data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2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VeriFace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aims to: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Detect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or manipulated media.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Locate suspicious regions, frames, or audio segments.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performance on unseen manipulations.</a:t>
            </a:r>
          </a:p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clear results through a dashboard and forensic report.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2887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itchFamily="18" charset="0"/>
              </a:rPr>
              <a:t>Proposed Solution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852928" y="1227984"/>
            <a:ext cx="3383280" cy="566928"/>
          </a:xfrm>
          <a:prstGeom prst="rect">
            <a:avLst/>
          </a:prstGeom>
          <a:solidFill>
            <a:srgbClr val="D9D9D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4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 Media + Type Router
(Image / Video / Audio)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114952"/>
            <a:ext cx="2761488" cy="2505456"/>
          </a:xfrm>
          <a:prstGeom prst="rect">
            <a:avLst/>
          </a:prstGeom>
          <a:solidFill>
            <a:srgbClr val="F7F6F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5176" y="2151528"/>
            <a:ext cx="2688336" cy="329184"/>
          </a:xfrm>
          <a:prstGeom prst="rect">
            <a:avLst/>
          </a:prstGeom>
          <a:solidFill>
            <a:srgbClr val="D9D9D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6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 BRANCH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" y="2882774"/>
            <a:ext cx="2542032" cy="13172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04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 detection &amp; alignment
Frozen ViT-B/16
+ GAM / LAM adapters
+ FAL objective
+ FFT forensic cue
Output: image score + Grad-CAM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2114952"/>
            <a:ext cx="2761488" cy="2505456"/>
          </a:xfrm>
          <a:prstGeom prst="rect">
            <a:avLst/>
          </a:prstGeom>
          <a:solidFill>
            <a:srgbClr val="F7F6F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191256" y="2151528"/>
            <a:ext cx="2688336" cy="329184"/>
          </a:xfrm>
          <a:prstGeom prst="rect">
            <a:avLst/>
          </a:prstGeom>
          <a:solidFill>
            <a:srgbClr val="D9D9D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6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VIDEO BRANCH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962796"/>
            <a:ext cx="2542032" cy="1157240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04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8-16 frames
pSp style latents -&gt; Δ style flow
StyleGRU + 3D ResNet content
Style Attention + Temporal Transformer
Output: video/frame score + heatmap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114952"/>
            <a:ext cx="2761488" cy="2505456"/>
          </a:xfrm>
          <a:prstGeom prst="rect">
            <a:avLst/>
          </a:prstGeom>
          <a:solidFill>
            <a:srgbClr val="F7F6F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l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117336" y="2151528"/>
            <a:ext cx="2688336" cy="329184"/>
          </a:xfrm>
          <a:prstGeom prst="rect">
            <a:avLst/>
          </a:prstGeom>
          <a:solidFill>
            <a:srgbClr val="D9D9D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sz="126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AUDIO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882774"/>
            <a:ext cx="2542032" cy="1317284"/>
          </a:xfrm>
          <a:prstGeom prst="rect">
            <a:avLst/>
          </a:prstGeom>
          <a:noFill/>
        </p:spPr>
        <p:txBody>
          <a:bodyPr wrap="square" lIns="27432" tIns="18288" rIns="27432" bIns="18288" anchor="ctr">
            <a:spAutoFit/>
          </a:bodyPr>
          <a:lstStyle/>
          <a:p>
            <a:pPr algn="ctr"/>
            <a:r>
              <a:rPr sz="1040" b="0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16 kHz waveform
AASIST encoder
CLAD MoCo contrastive learning
+ length loss
+ manipulation augmentations
Output: audio score + segment saliency</a:t>
            </a:r>
          </a:p>
        </p:txBody>
      </p:sp>
      <p:cxnSp>
        <p:nvCxnSpPr>
          <p:cNvPr id="16" name="Connector 12"/>
          <p:cNvCxnSpPr/>
          <p:nvPr/>
        </p:nvCxnSpPr>
        <p:spPr>
          <a:xfrm flipH="1">
            <a:off x="1609344" y="1794912"/>
            <a:ext cx="2935224" cy="301752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3"/>
          <p:cNvCxnSpPr/>
          <p:nvPr/>
        </p:nvCxnSpPr>
        <p:spPr>
          <a:xfrm flipH="1">
            <a:off x="4535424" y="1794912"/>
            <a:ext cx="9144" cy="301752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4"/>
          <p:cNvCxnSpPr/>
          <p:nvPr/>
        </p:nvCxnSpPr>
        <p:spPr>
          <a:xfrm>
            <a:off x="4544568" y="1794912"/>
            <a:ext cx="2916936" cy="301752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508760" y="4903872"/>
            <a:ext cx="6071616" cy="548640"/>
          </a:xfrm>
          <a:prstGeom prst="rect">
            <a:avLst/>
          </a:prstGeom>
          <a:solidFill>
            <a:srgbClr val="D9D9D9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60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Media-aware Late Fusion / Decision Logic
(Video can combine visual + audio confidence)</a:t>
            </a:r>
          </a:p>
        </p:txBody>
      </p:sp>
      <p:cxnSp>
        <p:nvCxnSpPr>
          <p:cNvPr id="20" name="Connector 16"/>
          <p:cNvCxnSpPr/>
          <p:nvPr/>
        </p:nvCxnSpPr>
        <p:spPr>
          <a:xfrm>
            <a:off x="1609344" y="4620408"/>
            <a:ext cx="2935224" cy="274320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17"/>
          <p:cNvCxnSpPr/>
          <p:nvPr/>
        </p:nvCxnSpPr>
        <p:spPr>
          <a:xfrm>
            <a:off x="4535424" y="4620408"/>
            <a:ext cx="9144" cy="274320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18"/>
          <p:cNvCxnSpPr/>
          <p:nvPr/>
        </p:nvCxnSpPr>
        <p:spPr>
          <a:xfrm flipH="1">
            <a:off x="4544568" y="4620408"/>
            <a:ext cx="2916936" cy="274320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143000" y="5699400"/>
            <a:ext cx="6803136" cy="667512"/>
          </a:xfrm>
          <a:prstGeom prst="rect">
            <a:avLst/>
          </a:prstGeom>
          <a:solidFill>
            <a:srgbClr val="F7F6F0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260" b="1" i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Verdict (Real / Manipulated) + Confidence + Region/Frame/Audio Explanation
PostgreSQL Case Log + Downloadable Forensic PDF Report</a:t>
            </a:r>
          </a:p>
        </p:txBody>
      </p:sp>
      <p:cxnSp>
        <p:nvCxnSpPr>
          <p:cNvPr id="24" name="Connector 20"/>
          <p:cNvCxnSpPr/>
          <p:nvPr/>
        </p:nvCxnSpPr>
        <p:spPr>
          <a:xfrm>
            <a:off x="4544568" y="5461656"/>
            <a:ext cx="0" cy="228600"/>
          </a:xfrm>
          <a:prstGeom prst="line">
            <a:avLst/>
          </a:prstGeom>
          <a:ln w="12700">
            <a:solidFill>
              <a:srgbClr val="000000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157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4000" b="1" dirty="0" smtClean="0">
                <a:latin typeface="Times New Roman" panose="02020603050405020304" pitchFamily="18" charset="0"/>
                <a:cs typeface="Times New Roman" pitchFamily="18" charset="0"/>
              </a:rPr>
              <a:t>Software and Hardware Requirements</a:t>
            </a:r>
            <a:endParaRPr lang="en-IN" sz="4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3051338"/>
              </p:ext>
            </p:extLst>
          </p:nvPr>
        </p:nvGraphicFramePr>
        <p:xfrm>
          <a:off x="388543" y="1451976"/>
          <a:ext cx="8298256" cy="3048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49128"/>
                <a:gridCol w="4149128"/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dirty="0" smtClean="0"/>
                        <a:t>Operating </a:t>
                      </a:r>
                      <a:r>
                        <a:rPr lang="en-IN" sz="1400" dirty="0"/>
                        <a:t>System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Windows 10/11 or Ubuntu Linux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Programming Language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Python 3.x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Deep Learning Framework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PyTorch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Image/Video Processing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OpenCV, MTCNN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Audio Processing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Librosa / Torchaudio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Backend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FastAPI / Flask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Frontend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React.js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Database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PostgreSQL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Explainability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Grad-CAM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Deployment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Docker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380687"/>
              </p:ext>
            </p:extLst>
          </p:nvPr>
        </p:nvGraphicFramePr>
        <p:xfrm>
          <a:off x="380999" y="5118341"/>
          <a:ext cx="8305800" cy="152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52900"/>
                <a:gridCol w="41529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Processor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Intel Core i5/i7 or AMD </a:t>
                      </a:r>
                      <a:r>
                        <a:rPr lang="en-IN" sz="1400" dirty="0" err="1"/>
                        <a:t>Ryzen</a:t>
                      </a:r>
                      <a:r>
                        <a:rPr lang="en-IN" sz="1400" dirty="0"/>
                        <a:t> 5/7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RAM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Minimum 16 GB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GPU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NVIDIA GPU with 6–8 GB VRAM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/>
                        <a:t>Storage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/>
                        <a:t>Minimum 256 GB SSD</a:t>
                      </a:r>
                      <a:endParaRPr lang="en-I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400" dirty="0"/>
                        <a:t>Internet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Stable broadband connection</a:t>
                      </a:r>
                      <a:endParaRPr lang="en-IN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 flipH="1">
            <a:off x="304800" y="958334"/>
            <a:ext cx="2087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 flipH="1">
            <a:off x="304800" y="4572000"/>
            <a:ext cx="2090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9447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pPr lvl="1" algn="ctr">
              <a:lnSpc>
                <a:spcPct val="150000"/>
              </a:lnSpc>
            </a:pPr>
            <a:r>
              <a:rPr lang="en-IN" sz="3200" b="1" dirty="0" smtClean="0">
                <a:latin typeface="Times New Roman" panose="02020603050405020304" pitchFamily="18" charset="0"/>
                <a:cs typeface="Times New Roman" pitchFamily="18" charset="0"/>
              </a:rPr>
              <a:t>Project Development Timeline (Gantt Chart)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8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059" y="1600200"/>
            <a:ext cx="8041881" cy="4525963"/>
          </a:xfrm>
        </p:spPr>
      </p:pic>
    </p:spTree>
    <p:extLst>
      <p:ext uri="{BB962C8B-B14F-4D97-AF65-F5344CB8AC3E}">
        <p14:creationId xmlns:p14="http://schemas.microsoft.com/office/powerpoint/2010/main" val="43302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81000" y="995076"/>
            <a:ext cx="838200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Luo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Cai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Kong, Y.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X. Kang, J. Huang, and A. C.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Kot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“Forgery-Aware Adaptive Learning With Vision Transformer for Generalized Face Forgery Detection,”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Circuits and Systems for Video Technology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vol. 35, no. 5, 2025.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Choi, T. Kim, Y.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Jeong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Baek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J. Choi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“Exploiting Style Latent Flows for Generalizing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Video Detection,”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IEEE/CVF Conference on Computer Vision and Pattern Recognition (CVPR)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H. Wu, J. Chen, R. Du, C. Wu, K. He, X. Shang, H.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G.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“CLAD: Robust Audio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 Against Manipulation Attacks with Contrastive Learning,” </a:t>
            </a:r>
            <a:r>
              <a:rPr kumimoji="0" lang="en-US" sz="16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preprint arXiv:2404.15854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D. Nguyen, N.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Mejri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I. P. Singh, P.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Kuleshova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Astrid, A.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Kacem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Ghorbel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D.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Aouada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“LAA-Net: Localized Artifact Attention Network for Quality-Agnostic and Generalizable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Detection,”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IEEE/CVF Conference on Computer Vision and Pattern Recognition (CVPR)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2024.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Haliassos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K.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Vougioukas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S. Petridis, and M.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Pantic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“Lips Don’t Lie: A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Generalisable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Robust Approach to Face Forgery Detection,”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IEEE/CVF Conference on Computer Vision and Pattern Recognition (CVPR)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2021.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H. Zhao, W. Zhou, D. Chen, T. Wei, W. Zhang, and N. Yu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“Multi-attentional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Deepfake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Detection,”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IEEE/CVF Conference on Computer Vision and Pattern Recognition (CVPR)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2021. 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J. Jung, H.-S.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Heo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 </a:t>
            </a:r>
            <a:r>
              <a:rPr kumimoji="0" lang="en-US" sz="16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Tak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H.-J. Shim, J. S. Chung, B.-J. Lee, H.-J. Yu, and N. Evans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“AASIST: Audio Anti-Spoofing Using Integrated </a:t>
            </a:r>
            <a:r>
              <a:rPr kumimoji="0" 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Spectro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-Temporal Graph Attention Networks,”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IEEE International Conference on Acoustics, Speech and Signal Processing (ICASSP)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2022. </a:t>
            </a:r>
          </a:p>
        </p:txBody>
      </p:sp>
    </p:spTree>
    <p:extLst>
      <p:ext uri="{BB962C8B-B14F-4D97-AF65-F5344CB8AC3E}">
        <p14:creationId xmlns:p14="http://schemas.microsoft.com/office/powerpoint/2010/main" val="2621825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900</Words>
  <Application>Microsoft Office PowerPoint</Application>
  <PresentationFormat>On-screen Show (4:3)</PresentationFormat>
  <Paragraphs>114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  A  Presentation on  “VeriFace — Verify the Media. Reveal the Truth.”  By Tanishq Nandwana  Divyanshu Kumbe Yanshu Baria      Under the Guidance of Dr. Varsha Nemade </vt:lpstr>
      <vt:lpstr>Outline</vt:lpstr>
      <vt:lpstr>Objective</vt:lpstr>
      <vt:lpstr>Literature Survey</vt:lpstr>
      <vt:lpstr>Problem Statement</vt:lpstr>
      <vt:lpstr>Proposed Solution</vt:lpstr>
      <vt:lpstr>Software and Hardware Requirements</vt:lpstr>
      <vt:lpstr>Project Development Timeline (Gantt Chart)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 Presentation on “TITLE OF PROJECT”  By NAME OF STUDENT    Under the Guidance of NAME OF GUIDE</dc:title>
  <dc:creator>kunal</dc:creator>
  <cp:lastModifiedBy>Microsoft account</cp:lastModifiedBy>
  <cp:revision>44</cp:revision>
  <dcterms:created xsi:type="dcterms:W3CDTF">2006-08-16T00:00:00Z</dcterms:created>
  <dcterms:modified xsi:type="dcterms:W3CDTF">2026-08-07T18:29:50Z</dcterms:modified>
</cp:coreProperties>
</file>